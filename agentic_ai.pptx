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731520"/>
            <a:ext cx="4572000" cy="4572000"/>
          </a:xfrm>
          <a:prstGeom prst="ellipse">
            <a:avLst/>
          </a:prstGeom>
          <a:solidFill>
            <a:srgbClr val="14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4754880"/>
            <a:ext cx="3200400" cy="3200400"/>
          </a:xfrm>
          <a:prstGeom prst="ellipse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3246120"/>
            <a:ext cx="5029200" cy="64008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Agentic AI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CDE4"/>
                </a:solidFill>
                <a:latin typeface="Calibri"/>
              </a:rPr>
              <a:t>From Passive Tools to Purposeful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930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B4"/>
                </a:solidFill>
                <a:latin typeface="Calibri"/>
              </a:rPr>
              <a:t>FULL-DAY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8CAFD2"/>
                </a:solidFill>
                <a:latin typeface="Calibri"/>
              </a:rPr>
              <a:t>3 Hours  ·  Educators, Instructional Designers &amp; Academic Leaders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172200"/>
            <a:ext cx="11686032" cy="502920"/>
          </a:xfrm>
          <a:prstGeom prst="rect">
            <a:avLst/>
          </a:prstGeom>
          <a:solidFill>
            <a:srgbClr val="0C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2453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4"/>
                </a:solidFill>
                <a:latin typeface="Calibri"/>
              </a:rPr>
              <a:t>Designed for K–12, Higher Education &amp; Advising Contexts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Workshop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3.5 hours · 7 segments · Full participation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475488" cy="50292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216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Workshop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536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75104"/>
            <a:ext cx="475488" cy="50292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025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From Passive AI to 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225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30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761488"/>
            <a:ext cx="475488" cy="502920"/>
          </a:xfrm>
          <a:prstGeom prst="roundRect">
            <a:avLst>
              <a:gd name="adj" fmla="val 6000"/>
            </a:avLst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Use Cases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108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35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547872"/>
            <a:ext cx="475488" cy="50292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7530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Design Pattern: Workflow →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89534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30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188720"/>
            <a:ext cx="475488" cy="502920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1216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Hands-On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1536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60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975104"/>
            <a:ext cx="475488" cy="502920"/>
          </a:xfrm>
          <a:prstGeom prst="roundRect">
            <a:avLst>
              <a:gd name="adj" fmla="val 6000"/>
            </a:avLst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20025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Governance, Ethics &amp; Human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23225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20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761488"/>
            <a:ext cx="475488" cy="50292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Showcase, Reflection &amp;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3108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20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Total: 3.5 hours of active, hands-on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We Work with AI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Workshop norms for responsible experimentation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170432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170432"/>
            <a:ext cx="73152" cy="141732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298448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Human First, AI 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45920"/>
            <a:ext cx="341985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You are the professional. Treat AI output as a draft requiring your judgment and expertise.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9664" y="1170432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9664" y="1170432"/>
            <a:ext cx="73152" cy="1417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5968" y="1298448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Protect Privacy &amp; Confidentiality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645920"/>
            <a:ext cx="341985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Never paste real student names, IDs, or grades. Anonymize or fabricate examples.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70432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170432"/>
            <a:ext cx="73152" cy="1417320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4" y="1298448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Align with Policies &amp; Ethics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1645920"/>
            <a:ext cx="341985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Your institutional AI, data, and academic integrity policies apply 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" y="2715768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2608" y="2715768"/>
            <a:ext cx="73152" cy="141732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2843784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Interrogate, Don't Imitate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191256"/>
            <a:ext cx="341985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Ask: What's missing? What's wrong? Whose perspective is absent? Cross-check facts.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9664" y="2715768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9664" y="2715768"/>
            <a:ext cx="73152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15968" y="2843784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Bias Awareness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3191256"/>
            <a:ext cx="341985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Assume AI can reflect and amplify social biases. Ask: who could be disadvantaged?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715768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2715768"/>
            <a:ext cx="73152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3024" y="2843784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Experiment Lightly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3191256"/>
            <a:ext cx="341985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Today is a sandbox. Focus on small, low-stakes pilots you can monitor and revise.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7315200" cy="7315200"/>
          </a:xfrm>
          <a:prstGeom prst="ellipse">
            <a:avLst/>
          </a:prstGeom>
          <a:solidFill>
            <a:srgbClr val="14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B4"/>
                </a:solidFill>
                <a:latin typeface="Calibri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Workshop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BC3DC"/>
                </a:solidFill>
                <a:latin typeface="Calibri"/>
              </a:rPr>
              <a:t>Welcome · Objectives · Norms · Agenda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2286000" cy="54864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⏱  15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Welcome &amp; Workshop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1115568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E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" y="1115568"/>
            <a:ext cx="73152" cy="123444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B4"/>
                </a:solidFill>
                <a:latin typeface="Calibri"/>
              </a:rPr>
              <a:t>Opening Poll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How are you currently using AI? (Mentimeter / clickers)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514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By the end of this workshop you will be able to: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" y="2962656"/>
            <a:ext cx="475488" cy="438912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9008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Distinguish passive, active, and agentic AI use in education.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" y="3584448"/>
            <a:ext cx="475488" cy="438912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8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Identify high-value and high-risk agent opportunities in your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4206240"/>
            <a:ext cx="475488" cy="438912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3367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Apply the Sense–Plan–Act–Reflect framework to map a real workflow.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" y="4828031"/>
            <a:ext cx="475488" cy="438912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5546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Prototype a basic agentic workflow using no-code tools.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" y="5449824"/>
            <a:ext cx="475488" cy="438912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77256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Apply governance principles and ethical guardrails to agent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7315200" cy="7315200"/>
          </a:xfrm>
          <a:prstGeom prst="ellipse">
            <a:avLst/>
          </a:prstGeom>
          <a:solidFill>
            <a:srgbClr val="14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B4"/>
                </a:solidFill>
                <a:latin typeface="Calibri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From Passive AI
to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BC3DC"/>
                </a:solidFill>
                <a:latin typeface="Calibri"/>
              </a:rPr>
              <a:t>Mini-lecture · Concepts · Contrasts · Think-Pair-Share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2286000" cy="54864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⏱  30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Most of Us Use AI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Passive AI use: the shallow, one-shot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56716" y="1371600"/>
            <a:ext cx="3017520" cy="1645920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Give it
a task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5676" y="1920240"/>
            <a:ext cx="292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5716" y="1371600"/>
            <a:ext cx="3017520" cy="1645920"/>
          </a:xfrm>
          <a:prstGeom prst="roundRect">
            <a:avLst>
              <a:gd name="adj" fmla="val 6000"/>
            </a:avLst>
          </a:prstGeom>
          <a:solidFill>
            <a:srgbClr val="374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It returns
a finished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6" y="1920240"/>
            <a:ext cx="292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4716" y="1371600"/>
            <a:ext cx="3017520" cy="1645920"/>
          </a:xfrm>
          <a:prstGeom prst="roundRect">
            <a:avLst>
              <a:gd name="adj" fmla="val 6000"/>
            </a:avLst>
          </a:prstGeom>
          <a:solidFill>
            <a:srgbClr val="50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Accept it with
little scrutiny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" y="3218688"/>
            <a:ext cx="9875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B7A94"/>
                </a:solidFill>
                <a:latin typeface="Calibri"/>
              </a:rPr>
              <a:t>PASSIVE AI PATTERN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566160"/>
            <a:ext cx="115214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3566160"/>
            <a:ext cx="73152" cy="2606040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The Problem with Passive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•  The human does less critical thinking — AI is treated as a content vending machine.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•  Learners become passive consumers: copying, pasting, and accepting output without scrutiny.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2064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•  Instructors accept AI-generated plans or quiz items without checking quality or fairness.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Three Modes of AI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Not all AI use is passive — the shift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" y="1188720"/>
            <a:ext cx="34747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4068" y="1188720"/>
            <a:ext cx="3474720" cy="5669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" y="1280160"/>
            <a:ext cx="32552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PASSIVE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1874519"/>
            <a:ext cx="3182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One task. One answer.
No critique.
AI = content vending machine
Human = passive recipient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" y="5193792"/>
            <a:ext cx="3474720" cy="4754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" y="52303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B4A"/>
                </a:solidFill>
                <a:latin typeface="Calibri"/>
              </a:rPr>
              <a:t>Human Control: Low — human defers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7116" y="1188720"/>
            <a:ext cx="34747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57116" y="1188720"/>
            <a:ext cx="3474720" cy="56692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6844" y="1280160"/>
            <a:ext cx="32552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708" y="1874519"/>
            <a:ext cx="3182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AI creates raw material.
Human interrogates, critiques,
revises, and evaluates.
Cognitive work stays with the human.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7116" y="5193792"/>
            <a:ext cx="3474720" cy="4754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48556" y="52303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96B4"/>
                </a:solidFill>
                <a:latin typeface="Calibri"/>
              </a:rPr>
              <a:t>Human Control: Medium — human leads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0164" y="1188720"/>
            <a:ext cx="34747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70164" y="1188720"/>
            <a:ext cx="347472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9892" y="1280160"/>
            <a:ext cx="32552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AGENTIC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4756" y="1874519"/>
            <a:ext cx="3182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AI pursues a goal across multiple steps.
Plans tasks, calls tools,
observes results, adapts.
Human controls boundaries and approvals.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0164" y="5193792"/>
            <a:ext cx="3474720" cy="4754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1604" y="52303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Human Control: High —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8338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94"/>
                </a:solidFill>
                <a:latin typeface="Calibri"/>
              </a:rPr>
              <a:t>────────────────────────── Increasing autonomy, value &amp; design complexity ────────────────────────────→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Agentic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Beyond single questions and single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115568"/>
            <a:ext cx="11612880" cy="1170432"/>
          </a:xfrm>
          <a:prstGeom prst="roundRect">
            <a:avLst>
              <a:gd name="adj" fmla="val 6000"/>
            </a:avLst>
          </a:prstGeom>
          <a:solidFill>
            <a:srgbClr val="E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115568"/>
            <a:ext cx="73152" cy="117043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7043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B4"/>
                </a:solidFill>
                <a:latin typeface="Calibri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813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F"/>
                </a:solidFill>
                <a:latin typeface="Calibri"/>
              </a:rPr>
              <a:t>An AI agent can pursue a goal through multiple steps: it plans tasks, calls tools (LMS, email, knowledge bases), observes the results, and decides what to do next — within clear boundaries you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423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Core Components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" y="28346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6908" y="2834640"/>
            <a:ext cx="2651760" cy="47548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" y="290779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" y="3401568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The AI reasoning engine that interprets goals and plans 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388" y="3611880"/>
            <a:ext cx="201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4700" y="28346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14700" y="2834640"/>
            <a:ext cx="2651760" cy="47548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06140" y="290779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2716" y="3401568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APIs, LMS, email, docs, and knowledge bases the agent can call.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2180" y="3611880"/>
            <a:ext cx="201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2492" y="28346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22492" y="2834640"/>
            <a:ext cx="2651760" cy="475488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3931" y="290779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507" y="3401568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Policies and rules that define what the agent may and must not 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9972" y="3611880"/>
            <a:ext cx="201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0284" y="28346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30284" y="2834640"/>
            <a:ext cx="265176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21724" y="290779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Feedback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8300" y="3401568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Results are observed and used to decide the next step or refine behavior.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Agentic AI Matters for Educators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1115568"/>
            <a:ext cx="5440680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" y="1115568"/>
            <a:ext cx="5440680" cy="47548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64008" cy="128016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Repeatable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Sending nudges, organizing resources, generating practice problems, checking alignment — exactly where agents save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64008" cy="128016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Explicit pedagogy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93591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Designing an agent forces you to articulate: what signals matter, what good feedback looks like, where student agency must be preserved.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54879"/>
            <a:ext cx="64008" cy="128016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754879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Scalable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02351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Agents can extend your reach — tutoring, adaptive feedback, proactive check-ins — without replacing human relationships.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115568"/>
            <a:ext cx="5833872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115568"/>
            <a:ext cx="5833872" cy="47548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Shift in 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94"/>
                </a:solidFill>
                <a:latin typeface="Calibri"/>
              </a:rPr>
              <a:t>Passive AI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03120"/>
            <a:ext cx="5532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"Generate 10 quiz questions"
→ copy-paste into LMS → no quality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44368"/>
            <a:ext cx="5349240" cy="36576"/>
          </a:xfrm>
          <a:prstGeom prst="rect">
            <a:avLst/>
          </a:prstGeom>
          <a:solidFill>
            <a:srgbClr val="D2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3090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Agentic AI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474720"/>
            <a:ext cx="5532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"Diagnose misconceptions about photosynthesis"
→ Agent generates, tags, checks alignment
→ You review, edit, and approve items
→ Meaningful human control throughout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864608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96B4"/>
                </a:solidFill>
                <a:latin typeface="Calibri"/>
              </a:rPr>
              <a:t>Key insight: AI working through a goal-directed process you designed, with you retaining control over high-stakes outcomes.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Activity: Passive, Active, or Agentic?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15 minutes  ·  Individual → Pairs → Whole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188720"/>
            <a:ext cx="537667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1280160"/>
            <a:ext cx="429768" cy="429768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280160"/>
            <a:ext cx="467258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Instructor pastes 'Write 10 MCQs on Ch. 3.' Copies all 10 into LMS without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" y="2423160"/>
            <a:ext cx="537667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4048" y="2514600"/>
            <a:ext cx="429768" cy="429768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514600"/>
            <a:ext cx="467258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Students have AI draft a lab conclusion, then annotate it with track changes. Submit both.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" y="3657600"/>
            <a:ext cx="537667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4048" y="3749039"/>
            <a:ext cx="429768" cy="429768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749039"/>
            <a:ext cx="467258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Advisor uses AI only when stuck writing emails; edits wording before sending.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27648" y="1280160"/>
            <a:ext cx="429768" cy="429768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856" y="1280160"/>
            <a:ext cx="467258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Agent checks LMS every Monday, flags inactive students, drafts nudges for instructor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423160"/>
            <a:ext cx="537667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514600"/>
            <a:ext cx="429768" cy="429768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8856" y="2514600"/>
            <a:ext cx="467258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Faculty asks AI to design a 4-week unit, then aligns activities to their own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657600"/>
            <a:ext cx="537667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27648" y="3749039"/>
            <a:ext cx="429768" cy="429768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3749039"/>
            <a:ext cx="467258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Agent auto-categorizes help-desk emails by topic; staff review and respond.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FF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19048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3A4F"/>
                </a:solidFill>
                <a:latin typeface="Calibri"/>
              </a:rPr>
              <a:t>Step 1: Label each  P / A / G  (3–4 min)   ·   Step 2: Rewrite a passive scenario as agentic with a partner (7–8 min)   ·   Step 3: Share out (3–5 min)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7315200" cy="7315200"/>
          </a:xfrm>
          <a:prstGeom prst="ellipse">
            <a:avLst/>
          </a:prstGeom>
          <a:solidFill>
            <a:srgbClr val="14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426"/>
                </a:solidFill>
                <a:latin typeface="Calibri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Use Cases &amp;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BC3DC"/>
                </a:solidFill>
                <a:latin typeface="Calibri"/>
              </a:rPr>
              <a:t>Where Agents Can Help — and Where to Draw the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2286000" cy="548640"/>
          </a:xfrm>
          <a:prstGeom prst="roundRect">
            <a:avLst>
              <a:gd name="adj" fmla="val 6000"/>
            </a:avLst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⏱  35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Where Agents Can Actually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High-value use cases for agentic AI in 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19" y="1188720"/>
            <a:ext cx="2121408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8619" y="1188720"/>
            <a:ext cx="2121408" cy="50292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59" y="126187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" y="1755648"/>
            <a:ext cx="19568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F"/>
                </a:solidFill>
                <a:latin typeface="Calibri"/>
              </a:rPr>
              <a:t>Intelligent
Tutoring &amp;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59" y="2468880"/>
            <a:ext cx="19568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4"/>
                </a:solidFill>
                <a:latin typeface="Calibri"/>
              </a:rPr>
              <a:t>Always-available practice companion.
Adapts difficulty, gives hints, flags misconceptions for you to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1196" y="1188720"/>
            <a:ext cx="2121408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11196" y="1188720"/>
            <a:ext cx="2121408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2636" y="126187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2636" y="1755648"/>
            <a:ext cx="19568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F"/>
                </a:solidFill>
                <a:latin typeface="Calibri"/>
              </a:rPr>
              <a:t>Instructional
Design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2636" y="2468880"/>
            <a:ext cx="19568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4"/>
                </a:solidFill>
                <a:latin typeface="Calibri"/>
              </a:rPr>
              <a:t>Drafts modules, lesson plans, quiz banks from your outcomes. Checks alignment between objectives, activities, and assessments.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3772" y="1188720"/>
            <a:ext cx="2121408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33772" y="1188720"/>
            <a:ext cx="2121408" cy="502920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5212" y="126187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5212" y="1755648"/>
            <a:ext cx="19568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F"/>
                </a:solidFill>
                <a:latin typeface="Calibri"/>
              </a:rPr>
              <a:t>Feedback &amp;
Assessment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5212" y="2468880"/>
            <a:ext cx="19568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4"/>
                </a:solidFill>
                <a:latin typeface="Calibri"/>
              </a:rPr>
              <a:t>Pre-screens written work against a rubric. Suggests feedback phrases while you retain final control of grades and comments.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6348" y="1188720"/>
            <a:ext cx="2121408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56348" y="1188720"/>
            <a:ext cx="2121408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7788" y="126187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7788" y="1755648"/>
            <a:ext cx="19568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F"/>
                </a:solidFill>
                <a:latin typeface="Calibri"/>
              </a:rPr>
              <a:t>Student Success
&amp; Advising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7788" y="2468880"/>
            <a:ext cx="19568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4"/>
                </a:solidFill>
                <a:latin typeface="Calibri"/>
              </a:rPr>
              <a:t>Monitors logins, missing assignments, attendance. Drafts personalized nudges for at-risk students — you approve before sending.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78924" y="1188720"/>
            <a:ext cx="2121408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78924" y="1188720"/>
            <a:ext cx="2121408" cy="502920"/>
          </a:xfrm>
          <a:prstGeom prst="rect">
            <a:avLst/>
          </a:prstGeom>
          <a:solidFill>
            <a:srgbClr val="823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70364" y="126187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0364" y="1755648"/>
            <a:ext cx="19568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F"/>
                </a:solidFill>
                <a:latin typeface="Calibri"/>
              </a:rPr>
              <a:t>Administrative
Assistants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0364" y="2468880"/>
            <a:ext cx="19568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4"/>
                </a:solidFill>
                <a:latin typeface="Calibri"/>
              </a:rPr>
              <a:t>Automates routine communications. Manages resources: tagging materials, updating links, building LMS page structures.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" y="4663440"/>
            <a:ext cx="11612880" cy="658368"/>
          </a:xfrm>
          <a:prstGeom prst="roundRect">
            <a:avLst>
              <a:gd name="adj" fmla="val 6000"/>
            </a:avLst>
          </a:prstGeom>
          <a:solidFill>
            <a:srgbClr val="E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92608" y="4663440"/>
            <a:ext cx="64008" cy="65836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" y="4754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3A4F"/>
                </a:solidFill>
                <a:latin typeface="Calibri"/>
              </a:rPr>
              <a:t>Sweet spot: repetitive, rules-based work where human judgment is still in the loop for anything high-stakes or relational.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Red Lines &amp; Key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What must not be delegated — and what to watch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115568"/>
            <a:ext cx="544068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115568"/>
            <a:ext cx="544068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Red Lines — Do Not Delegate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773936"/>
            <a:ext cx="457200" cy="438912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Final grading on high-stakes work or holistic judgments about students.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889504"/>
            <a:ext cx="457200" cy="438912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Sensitive communications: academic probation, discipline, mental 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005072"/>
            <a:ext cx="457200" cy="438912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14215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Determining accommodations, eligibility, or any legally-governed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5120640"/>
            <a:ext cx="457200" cy="438912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2978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Surveillance or 'gotcha' monitoring that undermines trust or targets groups.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115568"/>
            <a:ext cx="5833872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115568"/>
            <a:ext cx="5833872" cy="475488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Risks to Manage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737360"/>
            <a:ext cx="64008" cy="960120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173736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Hallucinations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084831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AI produces confident but wrong content. Staff and students act on inaccurate information.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852928"/>
            <a:ext cx="64008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28529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Bias &amp; Inequity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2004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Training data encodes biases that can disadvantage certain student groups systematically.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3968496"/>
            <a:ext cx="64008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396849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Over-automation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315968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Too much delegation erodes educator and student critical thinking and professional judgment.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5084064"/>
            <a:ext cx="64008" cy="960120"/>
          </a:xfrm>
          <a:prstGeom prst="rect">
            <a:avLst/>
          </a:prstGeom>
          <a:solidFill>
            <a:srgbClr val="823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91072" y="508406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Privacy Gaps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5431536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Moving student data into AI tools creates compliance, consent, and security risks.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7315200" cy="7315200"/>
          </a:xfrm>
          <a:prstGeom prst="ellipse">
            <a:avLst/>
          </a:prstGeom>
          <a:solidFill>
            <a:srgbClr val="14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B4"/>
                </a:solidFill>
                <a:latin typeface="Calibri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Design Pattern:
Workflow →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BC3DC"/>
                </a:solidFill>
                <a:latin typeface="Calibri"/>
              </a:rPr>
              <a:t>Sense · Plan · Act · Reflect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2286000" cy="54864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⏱  30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Sense–Plan–Act–Reflect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A simple design model for agentic workflows in 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88720"/>
            <a:ext cx="2578608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4632" y="1188720"/>
            <a:ext cx="2578608" cy="5669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271016"/>
            <a:ext cx="239572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2350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  <a:latin typeface="Calibri"/>
              </a:rPr>
              <a:t>What signals does
the agent observe?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578608"/>
            <a:ext cx="23500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LMS logins
Missing assignments
Quiz scores
Form responses
Email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2880360"/>
            <a:ext cx="228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188720"/>
            <a:ext cx="2578608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64992" y="1188720"/>
            <a:ext cx="2578608" cy="56692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56432" y="1271016"/>
            <a:ext cx="239572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856232"/>
            <a:ext cx="2350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B4"/>
                </a:solidFill>
                <a:latin typeface="Calibri"/>
              </a:rPr>
              <a:t>How does it decide
next actions?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578608"/>
            <a:ext cx="23500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Rules and priorities:
• No login 7 days → flag high
• 1 missing assign → medium
• Low quiz score → suggest resource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2880360"/>
            <a:ext cx="228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188720"/>
            <a:ext cx="2578608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45352" y="1188720"/>
            <a:ext cx="2578608" cy="566928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1271016"/>
            <a:ext cx="239572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1856232"/>
            <a:ext cx="2350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6426"/>
                </a:solidFill>
                <a:latin typeface="Calibri"/>
              </a:rPr>
              <a:t>What tools and
actions does it take?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578608"/>
            <a:ext cx="23500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Draft email / LMS messages
Propose practice questions
Summarize patterns in report
Organize resource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2880360"/>
            <a:ext cx="228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25712" y="1188720"/>
            <a:ext cx="2578608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25712" y="1188720"/>
            <a:ext cx="257860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17152" y="1271016"/>
            <a:ext cx="239572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REFLECT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1856232"/>
            <a:ext cx="2350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How is performance
evaluated?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578608"/>
            <a:ext cx="23500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% flagged students who
  re-engage within 3 days
Minutes saved vs. manual
Quality of drafts reviewed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" y="5577840"/>
            <a:ext cx="11612880" cy="804672"/>
          </a:xfrm>
          <a:prstGeom prst="roundRect">
            <a:avLst>
              <a:gd name="adj" fmla="val 6000"/>
            </a:avLst>
          </a:prstGeom>
          <a:solidFill>
            <a:srgbClr val="E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92608" y="5577840"/>
            <a:ext cx="64008" cy="80467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5687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Human control checkpoint: At the ACT phase, agents prepare drafts or proposals. A human reviews, approves, or overrides before anything is sent to students.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Worked Example: Weekly Check-In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Mapping an educator's existing practice to an agentic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115568"/>
            <a:ext cx="544068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115568"/>
            <a:ext cx="5440680" cy="47548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Current Human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783080"/>
            <a:ext cx="1005840" cy="438912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1051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Manually scan grade book each Monday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880359"/>
            <a:ext cx="1005840" cy="438912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07791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Mentally flag students who look off-track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977639"/>
            <a:ext cx="1005840" cy="438912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0507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Write individual emails to 3–4 students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5074920"/>
            <a:ext cx="1005840" cy="438912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REFLECT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10235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Vaguely track if they re-engage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320040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96B4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115568"/>
            <a:ext cx="5833872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1115568"/>
            <a:ext cx="5833872" cy="47548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Agentic 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783080"/>
            <a:ext cx="1005840" cy="438912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81051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Reads LMS data: last login, missing assignments, quiz scores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880359"/>
            <a:ext cx="1005840" cy="438912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907791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Rules: no login 7d = high priority; 1 missing = medium alert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77639"/>
            <a:ext cx="1005840" cy="438912"/>
          </a:xfrm>
          <a:prstGeom prst="roundRect">
            <a:avLst>
              <a:gd name="adj" fmla="val 6000"/>
            </a:avLst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0050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Drafts personalized nudges → presents to instructor for approval 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074920"/>
            <a:ext cx="1005840" cy="438912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REFLECT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1023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Tracks re-engagement rate; flags if nudges aren't working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989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6426"/>
                </a:solidFill>
                <a:latin typeface="Calibri"/>
              </a:rPr>
              <a:t>★ = mandatory human review point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7315200" cy="7315200"/>
          </a:xfrm>
          <a:prstGeom prst="ellipse">
            <a:avLst/>
          </a:prstGeom>
          <a:solidFill>
            <a:srgbClr val="14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Hands-On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BC3DC"/>
                </a:solidFill>
                <a:latin typeface="Calibri"/>
              </a:rPr>
              <a:t>Design and Prototype Your First Agentic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2286000" cy="548640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⏱  60 minutes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Lab Overview &amp;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You will leave with a sketched workflow and a working prototype.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225296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887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Choose a high-value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5544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Pick one real task you repeat every week or every term.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95560" y="1261872"/>
            <a:ext cx="1645920" cy="3840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10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1737360"/>
            <a:ext cx="54864" cy="493776"/>
          </a:xfrm>
          <a:prstGeom prst="rect">
            <a:avLst/>
          </a:prstGeom>
          <a:solidFill>
            <a:srgbClr val="C8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2608" y="2267712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3113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Map your current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9689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Use SPAR boxes to describe what you do today — human-only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95560" y="2304288"/>
            <a:ext cx="1645920" cy="3840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00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96B4"/>
                </a:solidFill>
                <a:latin typeface="Calibri"/>
              </a:rPr>
              <a:t>10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779776"/>
            <a:ext cx="54864" cy="493776"/>
          </a:xfrm>
          <a:prstGeom prst="rect">
            <a:avLst/>
          </a:prstGeom>
          <a:solidFill>
            <a:srgbClr val="C8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" y="331012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7355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Design the agentic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3931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Adapt the SPAR map to an agent. Mark ★ where human review is mandatory.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3346704"/>
            <a:ext cx="1645920" cy="3840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Calibri"/>
              </a:rPr>
              <a:t>15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" y="3822191"/>
            <a:ext cx="54864" cy="493776"/>
          </a:xfrm>
          <a:prstGeom prst="rect">
            <a:avLst/>
          </a:prstGeom>
          <a:solidFill>
            <a:srgbClr val="C8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92608" y="4352544"/>
            <a:ext cx="502920" cy="502920"/>
          </a:xfrm>
          <a:prstGeom prst="roundRect">
            <a:avLst>
              <a:gd name="adj" fmla="val 6000"/>
            </a:avLst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31596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Build a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8172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Create a multi-step prompt or agent in a no-code tool using synthetic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5560" y="4389120"/>
            <a:ext cx="1645920" cy="3840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F06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06426"/>
                </a:solidFill>
                <a:latin typeface="Calibri"/>
              </a:rPr>
              <a:t>20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864607"/>
            <a:ext cx="54864" cy="493776"/>
          </a:xfrm>
          <a:prstGeom prst="rect">
            <a:avLst/>
          </a:prstGeom>
          <a:solidFill>
            <a:srgbClr val="C8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92608" y="5394959"/>
            <a:ext cx="502920" cy="502920"/>
          </a:xfrm>
          <a:prstGeom prst="roundRect">
            <a:avLst>
              <a:gd name="adj" fmla="val 6000"/>
            </a:avLst>
          </a:prstGeom>
          <a:solidFill>
            <a:srgbClr val="823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35838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F"/>
                </a:solidFill>
                <a:latin typeface="Calibri"/>
              </a:rPr>
              <a:t>Pair testing &amp; reflection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72414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Test with a partner: what feels safe? Where do you need more human control?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60" y="5431536"/>
            <a:ext cx="1645920" cy="3840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8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823CAA"/>
                </a:solidFill>
                <a:latin typeface="Calibri"/>
              </a:rPr>
              <a:t>5 min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Steps 1 &amp; 2: Choose &amp; Map Your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Start with a real task. Map what you actually do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115568"/>
            <a:ext cx="544068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115568"/>
            <a:ext cx="544068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1 — Choose a workflow  (10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7373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F"/>
                </a:solidFill>
                <a:latin typeface="Calibri"/>
              </a:rPr>
              <a:t>Pick one pain point from your practice: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•  Weekly student engagement check-ins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88336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•  Generating and organizing practice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•  Drafting nudges for missing work or low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12464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•  Organizing FAQ replies for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2452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•  Creating module shells in the 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846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Write: workflow name + one-sentence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5257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94"/>
                </a:solidFill>
                <a:latin typeface="Calibri"/>
              </a:rPr>
              <a:t>E.g., "Help disengaged students re-engage before they fail the course."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115568"/>
            <a:ext cx="5833872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115568"/>
            <a:ext cx="5833872" cy="47548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2 — Map current workflow  (10 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37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F"/>
                </a:solidFill>
                <a:latin typeface="Calibri"/>
              </a:rPr>
              <a:t>Fill in the SPAR boxes based on what YOU do today: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2212848"/>
            <a:ext cx="5669280" cy="88696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4768" y="2212848"/>
            <a:ext cx="64008" cy="8869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2267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SENSE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642615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94"/>
                </a:solidFill>
                <a:latin typeface="Calibri"/>
              </a:rPr>
              <a:t>What data or signals do you check?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3218688"/>
            <a:ext cx="5669280" cy="88696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44768" y="3218688"/>
            <a:ext cx="64008" cy="88696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3273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B4"/>
                </a:solidFill>
                <a:latin typeface="Calibri"/>
              </a:rPr>
              <a:t>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648456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94"/>
                </a:solidFill>
                <a:latin typeface="Calibri"/>
              </a:rPr>
              <a:t>What rules or judgments guide you?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224528"/>
            <a:ext cx="5669280" cy="88696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44768" y="4224528"/>
            <a:ext cx="64008" cy="886968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2793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6426"/>
                </a:solidFill>
                <a:latin typeface="Calibri"/>
              </a:rPr>
              <a:t>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654296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94"/>
                </a:solidFill>
                <a:latin typeface="Calibri"/>
              </a:rPr>
              <a:t>What messages or resources do you produce?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5230368"/>
            <a:ext cx="5669280" cy="88696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44768" y="5230368"/>
            <a:ext cx="64008" cy="8869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5285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REFLECT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660136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94"/>
                </a:solidFill>
                <a:latin typeface="Calibri"/>
              </a:rPr>
              <a:t>How do you know it worked?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3: Design the Agentic Version  (15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Same SPAR boxes — now map them to an agent. Mark ★ where human review is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70432"/>
            <a:ext cx="2578608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4632" y="1170432"/>
            <a:ext cx="2578608" cy="47548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252728"/>
            <a:ext cx="23957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368296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F"/>
                </a:solidFill>
                <a:latin typeface="Calibri"/>
              </a:rPr>
              <a:t>What data could the agent read automatically?
Mark OFF-LIMITS data (privacy/policy)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" y="4572000"/>
            <a:ext cx="2468879" cy="36576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4681728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2B4A"/>
                </a:solidFill>
                <a:latin typeface="Calibri"/>
              </a:rPr>
              <a:t>E.g., last login, missing assignments, quiz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834640"/>
            <a:ext cx="219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170432"/>
            <a:ext cx="2578608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4992" y="1170432"/>
            <a:ext cx="2578608" cy="47548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6432" y="1252728"/>
            <a:ext cx="23957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1737360"/>
            <a:ext cx="2368296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F"/>
                </a:solidFill>
                <a:latin typeface="Calibri"/>
              </a:rPr>
              <a:t>Write 2–3 explicit rules:
'If no login 7 days → high priority'
'If 1 missing assignment → medium alert'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856" y="4572000"/>
            <a:ext cx="2468879" cy="36576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83864" y="4681728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96B4"/>
                </a:solidFill>
                <a:latin typeface="Calibri"/>
              </a:rPr>
              <a:t>Be specific — agents follow rules, they don't exercise judgment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2834640"/>
            <a:ext cx="219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1170432"/>
            <a:ext cx="2578608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5352" y="1170432"/>
            <a:ext cx="2578608" cy="475488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1252728"/>
            <a:ext cx="23957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1737360"/>
            <a:ext cx="2368296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F"/>
                </a:solidFill>
                <a:latin typeface="Calibri"/>
              </a:rPr>
              <a:t>List 2–3 safe agent actions (draft/organize only):
Email templates for your approval
Practice questions tagged by topic
Summary report for you
★ Mark mandatory human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216" y="4572000"/>
            <a:ext cx="2468879" cy="36576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4681728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06426"/>
                </a:solidFill>
                <a:latin typeface="Calibri"/>
              </a:rPr>
              <a:t>Nothing reaches students without your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834640"/>
            <a:ext cx="219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A94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25712" y="1170432"/>
            <a:ext cx="2578608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25712" y="1170432"/>
            <a:ext cx="257860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17152" y="1252728"/>
            <a:ext cx="23957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REFLECT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1737360"/>
            <a:ext cx="2368296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F"/>
                </a:solidFill>
                <a:latin typeface="Calibri"/>
              </a:rPr>
              <a:t>Define 1–2 simple metrics:
% flagged students who re-engage
Minutes saved per week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4572000"/>
            <a:ext cx="2468879" cy="36576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4584" y="4681728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7AE60"/>
                </a:solidFill>
                <a:latin typeface="Calibri"/>
              </a:rPr>
              <a:t>How will you know when to turn it off?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4: Build a Simple Prototype  (20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No-code tool: ChatGPT with Projects, Claude, or LMS-integrated copilot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225296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88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Create a new agent /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554480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Name it after your use case. E.g., "Week 2 Engagement Check-In Agent."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755648"/>
            <a:ext cx="54864" cy="493776"/>
          </a:xfrm>
          <a:prstGeom prst="rect">
            <a:avLst/>
          </a:prstGeom>
          <a:solidFill>
            <a:srgbClr val="CD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8" y="228600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494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Write system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15184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Paste your goal, boundaries, and SPAR structure in plain language.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2816352"/>
            <a:ext cx="54864" cy="493776"/>
          </a:xfrm>
          <a:prstGeom prst="rect">
            <a:avLst/>
          </a:prstGeom>
          <a:solidFill>
            <a:srgbClr val="CD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2608" y="3346704"/>
            <a:ext cx="502920" cy="502920"/>
          </a:xfrm>
          <a:prstGeom prst="roundRect">
            <a:avLst>
              <a:gd name="adj" fmla="val 6000"/>
            </a:avLst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310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Encode the Plan as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75888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"First, read the LMS data. Second, categorize each student by priority using these rules: [...] Third, draft a short message. Fourth, produce a summary table."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3877056"/>
            <a:ext cx="54864" cy="493776"/>
          </a:xfrm>
          <a:prstGeom prst="rect">
            <a:avLst/>
          </a:prstGeom>
          <a:solidFill>
            <a:srgbClr val="CD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2608" y="4407407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3708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Use synthetic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736592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Paste a small CSV-style table with fake names and scores. Never use real student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4937759"/>
            <a:ext cx="54864" cy="493776"/>
          </a:xfrm>
          <a:prstGeom prst="rect">
            <a:avLst/>
          </a:prstGeom>
          <a:solidFill>
            <a:srgbClr val="CD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92608" y="5468112"/>
            <a:ext cx="502920" cy="502920"/>
          </a:xfrm>
          <a:prstGeom prst="roundRect">
            <a:avLst>
              <a:gd name="adj" fmla="val 6000"/>
            </a:avLst>
          </a:prstGeom>
          <a:solidFill>
            <a:srgbClr val="823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4315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Run once and inspect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797296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Did it follow the rules? Are messages appropriate? What would you edit before sending to students?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7315200" cy="7315200"/>
          </a:xfrm>
          <a:prstGeom prst="ellipse">
            <a:avLst/>
          </a:prstGeom>
          <a:solidFill>
            <a:srgbClr val="14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426"/>
                </a:solidFill>
                <a:latin typeface="Calibri"/>
              </a:rP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Governance, Ethics
&amp; Human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BC3DC"/>
                </a:solidFill>
                <a:latin typeface="Calibri"/>
              </a:rPr>
              <a:t>Principles · Risks · Checklist · Institutional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2286000" cy="548640"/>
          </a:xfrm>
          <a:prstGeom prst="roundRect">
            <a:avLst>
              <a:gd name="adj" fmla="val 6000"/>
            </a:avLst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⏱  20 minutes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Anchor Principles for Agentic AI in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Governance ensures experiments are safe, lawful, and values-aligned.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170432"/>
            <a:ext cx="537667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170432"/>
            <a:ext cx="5376672" cy="47548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2527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261872"/>
            <a:ext cx="4809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Meaningful Human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755648"/>
            <a:ext cx="515721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High-stakes decisions — grades, progression, discipline, accommodations — must remain under accountable human oversight.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1032" y="1170432"/>
            <a:ext cx="537667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71032" y="1170432"/>
            <a:ext cx="5376672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62472" y="12527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261872"/>
            <a:ext cx="4809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Rights, Dignity &amp; Equity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1755648"/>
            <a:ext cx="515721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Align AI use with human rights and non-discrimination. Avoid profiling or targeting that harms marginalized learners.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" y="3520440"/>
            <a:ext cx="537667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" y="3520440"/>
            <a:ext cx="5376672" cy="47548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36027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611880"/>
            <a:ext cx="4809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Transparency &amp; 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4105656"/>
            <a:ext cx="515721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Students and staff should know when an agent is involved, what data it uses, and how its outputs are reviewed.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71032" y="3520440"/>
            <a:ext cx="537667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71032" y="3520440"/>
            <a:ext cx="5376672" cy="475488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62472" y="36027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11880"/>
            <a:ext cx="4809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Protection &amp; Minimization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4105656"/>
            <a:ext cx="515721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Use only the data needed, with clear purpose, retention limits, appropriate security, and consent.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Ethical Checklist for Your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Every agent pilot must pass these five questions before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23444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1280160"/>
            <a:ext cx="411480" cy="402336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00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81328" y="11887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Purpose &amp; Proportionality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554480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Is the goal clearly educational and proportionate to the autonomy granted to the agent?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" y="228600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331720"/>
            <a:ext cx="411480" cy="402336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81328" y="22402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Data &amp; Consent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06040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What data does the agent access? Is it the minimum needed, consistent with institutional policies and student expectations?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3337559"/>
            <a:ext cx="502920" cy="502920"/>
          </a:xfrm>
          <a:prstGeom prst="roundRect">
            <a:avLst>
              <a:gd name="adj" fmla="val 6000"/>
            </a:avLst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383279"/>
            <a:ext cx="411480" cy="402336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F06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81328" y="329183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Human in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657599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Where must a human review, approve, or override the agent's outputs before they affect students?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" y="43891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4434840"/>
            <a:ext cx="411480" cy="402336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81328" y="4343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Bias &amp; Impact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709160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Who could be harmed by errors or blind spots? How will you test and gather feedback from affected groups?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" y="5440679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5486399"/>
            <a:ext cx="411480" cy="402336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81328" y="539495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F"/>
                </a:solidFill>
                <a:latin typeface="Calibri"/>
              </a:rPr>
              <a:t>Transparency &amp; Student Agency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760720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4"/>
                </a:solidFill>
                <a:latin typeface="Calibri"/>
              </a:rPr>
              <a:t>How will you tell students an agent is involved, what it does, and how they can seek a human alternative?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Questions to Take Back to Your Institution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For your AI committee, governance lead, or department.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170432"/>
            <a:ext cx="537667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170432"/>
            <a:ext cx="5376672" cy="47548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26187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61872"/>
            <a:ext cx="4690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Legal &amp; Regulatory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755648"/>
            <a:ext cx="515721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What legal regimes apply? (FERPA, ADA, state AI laws, institutional privacy policy, accreditation requirements)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1032" y="1170432"/>
            <a:ext cx="537667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71032" y="1170432"/>
            <a:ext cx="5376672" cy="475488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62472" y="126187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261872"/>
            <a:ext cx="4690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1755648"/>
            <a:ext cx="515721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Who owns and stewards the data agents use? Who approves new high-risk AI uses at your institution?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" y="3520440"/>
            <a:ext cx="537667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" y="3520440"/>
            <a:ext cx="5376672" cy="475488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36118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611880"/>
            <a:ext cx="4690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High-Risk 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4105656"/>
            <a:ext cx="515721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Which AI uses require prior ethics/governance review? (automated proctoring, predictive risk scores, auto-grading)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71032" y="3520440"/>
            <a:ext cx="537667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71032" y="3520440"/>
            <a:ext cx="5376672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62472" y="36118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611880"/>
            <a:ext cx="4690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Oversight &amp;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4105656"/>
            <a:ext cx="515721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How will you document, monitor, and update AI risks over time? (AI steering group, policy cycles, incident reporting)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7315200" cy="7315200"/>
          </a:xfrm>
          <a:prstGeom prst="ellipse">
            <a:avLst/>
          </a:prstGeom>
          <a:solidFill>
            <a:srgbClr val="14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B4"/>
                </a:solidFill>
                <a:latin typeface="Calibri"/>
              </a:rP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Reflection &amp;
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BC3DC"/>
                </a:solidFill>
                <a:latin typeface="Calibri"/>
              </a:rPr>
              <a:t>Insights · Confidence · Commitments · Closing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2286000" cy="548640"/>
          </a:xfrm>
          <a:prstGeom prst="roundRect">
            <a:avLst>
              <a:gd name="adj" fmla="val 6000"/>
            </a:avLst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⏱  20 minutes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Pause and 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3–4 minutes of quiet writing, then share one item with a neighbor.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" y="1261872"/>
            <a:ext cx="3401568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2356" y="1261872"/>
            <a:ext cx="3401568" cy="50292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" y="1353312"/>
            <a:ext cx="3182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One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1920239"/>
            <a:ext cx="31455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One insight you're taking away about agentic 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" y="3383279"/>
            <a:ext cx="3145536" cy="27432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8660" y="3822191"/>
            <a:ext cx="3145536" cy="27432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8660" y="4261104"/>
            <a:ext cx="3145536" cy="27432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93692" y="1261872"/>
            <a:ext cx="3401568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3692" y="1261872"/>
            <a:ext cx="3401568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3420" y="1353312"/>
            <a:ext cx="3182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One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1920239"/>
            <a:ext cx="31455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One workflow where an agent could realistically help you this term.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9996" y="3383279"/>
            <a:ext cx="3145536" cy="27432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39996" y="3822191"/>
            <a:ext cx="3145536" cy="27432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39996" y="4261104"/>
            <a:ext cx="3145536" cy="27432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5028" y="1261872"/>
            <a:ext cx="3401568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5028" y="1261872"/>
            <a:ext cx="3401568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4756" y="1353312"/>
            <a:ext cx="3182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One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1332" y="1920239"/>
            <a:ext cx="31455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F"/>
                </a:solidFill>
                <a:latin typeface="Calibri"/>
              </a:rPr>
              <a:t>One thing you will NOT automate — a line you want to keep.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71332" y="3383279"/>
            <a:ext cx="3145536" cy="27432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71332" y="3822191"/>
            <a:ext cx="3145536" cy="27432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71332" y="4261104"/>
            <a:ext cx="3145536" cy="27432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92608" y="4956048"/>
            <a:ext cx="11612880" cy="1536192"/>
          </a:xfrm>
          <a:prstGeom prst="roundRect">
            <a:avLst>
              <a:gd name="adj" fmla="val 6000"/>
            </a:avLst>
          </a:prstGeom>
          <a:solidFill>
            <a:srgbClr val="E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2608" y="4956048"/>
            <a:ext cx="64008" cy="15361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5029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B4"/>
                </a:solidFill>
                <a:latin typeface="Calibri"/>
              </a:rPr>
              <a:t>Confidence Check — Rate 1 to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54589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•  I can explain the difference between passive and agentic AI to a colleague.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7881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•  I can sketch a safe, useful agentic workflow for my own context.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611733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F"/>
                </a:solidFill>
                <a:latin typeface="Calibri"/>
              </a:rPr>
              <a:t>•  I know at least one risk and one safeguard I must consider when using agents.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Your 30-Day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D2E6"/>
                </a:solidFill>
                <a:latin typeface="Calibri"/>
              </a:rPr>
              <a:t>From idea to action — a specific, observable next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234440"/>
            <a:ext cx="9372600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234440"/>
            <a:ext cx="9372600" cy="53035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768" y="1298448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In the next 30 days, I will…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2768" y="1920240"/>
            <a:ext cx="9144000" cy="27432"/>
          </a:xfrm>
          <a:prstGeom prst="rect">
            <a:avLst/>
          </a:prstGeom>
          <a:solidFill>
            <a:srgbClr val="C8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72768" y="2350008"/>
            <a:ext cx="9144000" cy="27432"/>
          </a:xfrm>
          <a:prstGeom prst="rect">
            <a:avLst/>
          </a:prstGeom>
          <a:solidFill>
            <a:srgbClr val="C8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72768" y="2779776"/>
            <a:ext cx="9144000" cy="27432"/>
          </a:xfrm>
          <a:prstGeom prst="rect">
            <a:avLst/>
          </a:prstGeom>
          <a:solidFill>
            <a:srgbClr val="C8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2608" y="3611880"/>
            <a:ext cx="11612880" cy="1536192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2608" y="3611880"/>
            <a:ext cx="64008" cy="1536192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367588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426"/>
                </a:solidFill>
                <a:latin typeface="Calibri"/>
              </a:rPr>
              <a:t>Pair Share  (5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078224"/>
            <a:ext cx="112471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F"/>
                </a:solidFill>
                <a:latin typeface="Calibri"/>
              </a:rPr>
              <a:t>Share the workflow you are most likely to pilot.
Name one concrete next step (e.g., 'test with synthetic data,' 'talk with IT,' 'co-design with department').
Write your step on a sticky note or digital board under 'Try in 30 days.'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" y="5321808"/>
            <a:ext cx="11612880" cy="1170432"/>
          </a:xfrm>
          <a:prstGeom prst="roundRect">
            <a:avLst>
              <a:gd name="adj" fmla="val 6000"/>
            </a:avLst>
          </a:prstGeom>
          <a:solidFill>
            <a:srgbClr val="E0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" y="5321808"/>
            <a:ext cx="64008" cy="117043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5394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B4"/>
                </a:solidFill>
                <a:latin typeface="Calibri"/>
              </a:rPr>
              <a:t>Final Reflection Question: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5788152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3A4F"/>
                </a:solidFill>
                <a:latin typeface="Calibri"/>
              </a:rPr>
              <a:t>"What is one way you can bring students into the conversation about agentic AI — rather than doing it to them?"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-548640"/>
            <a:ext cx="5029200" cy="5029200"/>
          </a:xfrm>
          <a:prstGeom prst="ellipse">
            <a:avLst/>
          </a:prstGeom>
          <a:solidFill>
            <a:srgbClr val="12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4389120"/>
            <a:ext cx="3657600" cy="3657600"/>
          </a:xfrm>
          <a:prstGeom prst="ellipse">
            <a:avLst/>
          </a:prstGeom>
          <a:solidFill>
            <a:srgbClr val="0C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542032"/>
            <a:ext cx="5303520" cy="64008"/>
          </a:xfrm>
          <a:prstGeom prst="rect">
            <a:avLst/>
          </a:prstGeom>
          <a:solidFill>
            <a:srgbClr val="F0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07899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9BC6E4"/>
                </a:solidFill>
                <a:latin typeface="Calibri"/>
              </a:rPr>
              <a:t>Agentic AI in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B4"/>
                </a:solidFill>
                <a:latin typeface="Calibri"/>
              </a:rPr>
              <a:t>Key takeaways: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1012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FD0EB"/>
                </a:solidFill>
                <a:latin typeface="Calibri"/>
              </a:rPr>
              <a:t>→  Passive AI keeps humans passive. Agentic AI — well designed — keeps humans in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77056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FD0EB"/>
                </a:solidFill>
                <a:latin typeface="Calibri"/>
              </a:rPr>
              <a:t>→  The SPAR framework turns any educator workflow into a designable, governable agent.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439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FD0EB"/>
                </a:solidFill>
                <a:latin typeface="Calibri"/>
              </a:rPr>
              <a:t>→  Governance, ethics, and student transparency are not afterthoughts — build them in from day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1091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FD0EB"/>
                </a:solidFill>
                <a:latin typeface="Calibri"/>
              </a:rPr>
              <a:t>→  Start small, with synthetic data, in a low-stakes pilot you can monitor and revise.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0819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94"/>
                </a:solidFill>
                <a:latin typeface="Calibri"/>
              </a:rPr>
              <a:t>Questions  ·  Next Steps  ·  Connections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2932</Words>
  <Application>Microsoft Macintosh PowerPoint</Application>
  <PresentationFormat>Custom</PresentationFormat>
  <Paragraphs>381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Jirik, Jiri</cp:lastModifiedBy>
  <cp:revision>2</cp:revision>
  <dcterms:created xsi:type="dcterms:W3CDTF">2013-01-27T09:14:16Z</dcterms:created>
  <dcterms:modified xsi:type="dcterms:W3CDTF">2026-04-10T12:52:14Z</dcterms:modified>
  <cp:category/>
</cp:coreProperties>
</file>